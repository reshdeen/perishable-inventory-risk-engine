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90" r:id="rId4"/>
    <p:sldId id="258" r:id="rId5"/>
    <p:sldId id="259" r:id="rId6"/>
    <p:sldId id="260" r:id="rId7"/>
    <p:sldId id="300" r:id="rId8"/>
    <p:sldId id="299" r:id="rId9"/>
    <p:sldId id="261" r:id="rId10"/>
    <p:sldId id="276" r:id="rId11"/>
    <p:sldId id="277" r:id="rId12"/>
    <p:sldId id="281" r:id="rId13"/>
    <p:sldId id="303" r:id="rId14"/>
    <p:sldId id="304" r:id="rId15"/>
    <p:sldId id="278" r:id="rId16"/>
    <p:sldId id="306" r:id="rId17"/>
    <p:sldId id="308" r:id="rId18"/>
    <p:sldId id="309" r:id="rId19"/>
    <p:sldId id="311" r:id="rId20"/>
    <p:sldId id="287" r:id="rId21"/>
    <p:sldId id="289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2"/>
    <p:restoredTop sz="90732"/>
  </p:normalViewPr>
  <p:slideViewPr>
    <p:cSldViewPr>
      <p:cViewPr varScale="1">
        <p:scale>
          <a:sx n="75" d="100"/>
          <a:sy n="75" d="100"/>
        </p:scale>
        <p:origin x="112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CB755-B557-4A1E-A7D8-2AC5CD7AE4A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55F6D-3884-4338-8CEB-33D8C35C5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65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5F6D-3884-4338-8CEB-33D8C35C543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25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5F6D-3884-4338-8CEB-33D8C35C543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218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410845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410845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410845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410845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410845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8765" y="251713"/>
            <a:ext cx="5592445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6859" y="1441132"/>
            <a:ext cx="5243830" cy="2503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14390" y="6438255"/>
            <a:ext cx="97751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410845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0909" y="6438255"/>
            <a:ext cx="24130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762" y="172904"/>
            <a:ext cx="11420475" cy="3906198"/>
          </a:xfrm>
          <a:custGeom>
            <a:avLst/>
            <a:gdLst/>
            <a:ahLst/>
            <a:cxnLst/>
            <a:rect l="l" t="t" r="r" b="b"/>
            <a:pathLst>
              <a:path w="11420475" h="3562350">
                <a:moveTo>
                  <a:pt x="11420475" y="0"/>
                </a:moveTo>
                <a:lnTo>
                  <a:pt x="0" y="0"/>
                </a:lnTo>
                <a:lnTo>
                  <a:pt x="0" y="3562350"/>
                </a:lnTo>
                <a:lnTo>
                  <a:pt x="11420475" y="3562350"/>
                </a:lnTo>
                <a:lnTo>
                  <a:pt x="11420475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64629" y="-110159"/>
            <a:ext cx="11420475" cy="4090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90"/>
              </a:spcBef>
            </a:pPr>
            <a:endParaRPr sz="4800" dirty="0">
              <a:latin typeface="Times New Roman"/>
              <a:cs typeface="Times New Roman"/>
            </a:endParaRPr>
          </a:p>
          <a:p>
            <a:pPr marL="45720" algn="ctr">
              <a:lnSpc>
                <a:spcPct val="100000"/>
              </a:lnSpc>
            </a:pPr>
            <a:r>
              <a:rPr sz="28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Batch : 202</a:t>
            </a:r>
            <a:r>
              <a:rPr lang="en-IN" sz="28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3</a:t>
            </a:r>
            <a:r>
              <a:rPr sz="28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 –202</a:t>
            </a:r>
            <a:r>
              <a:rPr lang="en-IN" sz="28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7</a:t>
            </a:r>
            <a:endParaRPr sz="28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  <a:ea typeface="+mj-ea"/>
            </a:endParaRPr>
          </a:p>
          <a:p>
            <a:pPr marL="203835" algn="ctr">
              <a:lnSpc>
                <a:spcPct val="100000"/>
              </a:lnSpc>
              <a:spcBef>
                <a:spcPts val="700"/>
              </a:spcBef>
            </a:pPr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IT1608-Mini Project</a:t>
            </a:r>
          </a:p>
          <a:p>
            <a:pPr marL="203835" algn="ctr">
              <a:lnSpc>
                <a:spcPct val="100000"/>
              </a:lnSpc>
              <a:spcBef>
                <a:spcPts val="700"/>
              </a:spcBef>
            </a:pPr>
            <a:r>
              <a:rPr lang="en-US" sz="28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O</a:t>
            </a:r>
            <a:r>
              <a:rPr lang="en-IN" sz="28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n</a:t>
            </a:r>
          </a:p>
          <a:p>
            <a:pPr marL="203835" algn="ctr">
              <a:lnSpc>
                <a:spcPct val="100000"/>
              </a:lnSpc>
              <a:spcBef>
                <a:spcPts val="700"/>
              </a:spcBef>
            </a:pPr>
            <a:r>
              <a:rPr lang="en-US" sz="28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1</a:t>
            </a:r>
            <a:r>
              <a:rPr lang="en-IN" sz="28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3.05.2026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1255" y="4607974"/>
            <a:ext cx="11558905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sz="2800" b="1" cap="small" dirty="0">
                <a:solidFill>
                  <a:schemeClr val="tx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TITLE:</a:t>
            </a:r>
            <a:r>
              <a:rPr lang="en-US" sz="2800" b="1" cap="small" dirty="0">
                <a:solidFill>
                  <a:schemeClr val="tx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 </a:t>
            </a:r>
            <a:r>
              <a:rPr lang="en-US" sz="2800" dirty="0"/>
              <a:t>Cognitive Perishable Inventory Intelligence Platform for Autonomous Expiry Risk Prediction and Real-Time Decision Support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(P.I.R.E)</a:t>
            </a:r>
            <a:endParaRPr lang="en-US"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16309" y="6438255"/>
            <a:ext cx="1028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417F7-E5E8-4201-BED9-E5663B9B0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866" y="330265"/>
            <a:ext cx="9417534" cy="134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942" y="179350"/>
            <a:ext cx="11887200" cy="828675"/>
          </a:xfrm>
          <a:custGeom>
            <a:avLst/>
            <a:gdLst/>
            <a:ahLst/>
            <a:cxnLst/>
            <a:rect l="l" t="t" r="r" b="b"/>
            <a:pathLst>
              <a:path w="12192000" h="828675">
                <a:moveTo>
                  <a:pt x="12192000" y="0"/>
                </a:moveTo>
                <a:lnTo>
                  <a:pt x="0" y="0"/>
                </a:lnTo>
                <a:lnTo>
                  <a:pt x="0" y="828675"/>
                </a:lnTo>
                <a:lnTo>
                  <a:pt x="12192000" y="828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06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1311508" y="6518597"/>
            <a:ext cx="102870" cy="21209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042979"/>
              </p:ext>
            </p:extLst>
          </p:nvPr>
        </p:nvGraphicFramePr>
        <p:xfrm>
          <a:off x="222250" y="1200912"/>
          <a:ext cx="11800205" cy="537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Candidate</a:t>
                      </a:r>
                      <a:r>
                        <a:rPr sz="20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I: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Candidate</a:t>
                      </a:r>
                      <a:r>
                        <a:rPr sz="20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II: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Name: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225" marB="0" anchor="ctr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390"/>
                        </a:lnSpc>
                      </a:pPr>
                      <a:r>
                        <a:rPr lang="en-US" sz="2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Reshma</a:t>
                      </a:r>
                      <a:r>
                        <a:rPr lang="en-US" sz="2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1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Banu</a:t>
                      </a:r>
                      <a:r>
                        <a:rPr lang="en-US" sz="2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</a:t>
                      </a:r>
                      <a:endParaRPr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Sahana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07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  <a:r>
                        <a:rPr sz="20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number: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225" marB="0" anchor="ctr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405"/>
                        </a:lnSpc>
                      </a:pPr>
                      <a:r>
                        <a:rPr sz="2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31232</a:t>
                      </a:r>
                      <a:r>
                        <a:rPr lang="en-US" sz="2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3205182</a:t>
                      </a:r>
                      <a:endParaRPr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2405"/>
                        </a:lnSpc>
                      </a:pPr>
                      <a:r>
                        <a:rPr sz="2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31232</a:t>
                      </a:r>
                      <a:r>
                        <a:rPr lang="en-US" sz="2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3205187</a:t>
                      </a:r>
                      <a:endParaRPr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4930" marB="0"/>
                </a:tc>
                <a:tc gridSpan="2">
                  <a:txBody>
                    <a:bodyPr/>
                    <a:lstStyle/>
                    <a:p>
                      <a:pPr marL="952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Technology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413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/ Semester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4930" marB="0"/>
                </a:tc>
                <a:tc gridSpan="2">
                  <a:txBody>
                    <a:bodyPr/>
                    <a:lstStyle/>
                    <a:p>
                      <a:pPr marL="952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 / VI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413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93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Guided</a:t>
                      </a:r>
                      <a:r>
                        <a:rPr sz="2000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by: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4930" marB="0"/>
                </a:tc>
                <a:tc gridSpan="2">
                  <a:txBody>
                    <a:bodyPr/>
                    <a:lstStyle/>
                    <a:p>
                      <a:pPr marL="952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Nivethitha Devi M.E., (Ph.D.) Assistant Professor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413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L="9525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n-US" sz="2000" dirty="0"/>
                        <a:t>Supply Chain Management (SCM) &amp; Logistics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70125463"/>
                  </a:ext>
                </a:extLst>
              </a:tr>
              <a:tr h="11662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  <a:r>
                        <a:rPr sz="20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9375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COGNITIVE PERISHABLE INVENTORY INTELLIGENCE PLATFORM FOR AUTONOMOUS EXPIRY RISK PREDICTION AND REAL-TIME DECISION SUPPORT</a:t>
                      </a: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(P.I.R.E)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6120317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10193AA-925F-4760-8757-53AC7F7F09C6}"/>
              </a:ext>
            </a:extLst>
          </p:cNvPr>
          <p:cNvSpPr/>
          <p:nvPr/>
        </p:nvSpPr>
        <p:spPr>
          <a:xfrm>
            <a:off x="205685" y="239744"/>
            <a:ext cx="6248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Candidate Details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2EEFAA3-9098-9DA7-91CE-E6E0BC72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5" y="251713"/>
            <a:ext cx="11075035" cy="610745"/>
          </a:xfrm>
          <a:custGeom>
            <a:avLst/>
            <a:gdLst/>
            <a:ahLst/>
            <a:cxnLst/>
            <a:rect l="l" t="t" r="r" b="b"/>
            <a:pathLst>
              <a:path w="12192000" h="828675">
                <a:moveTo>
                  <a:pt x="12192000" y="0"/>
                </a:moveTo>
                <a:lnTo>
                  <a:pt x="0" y="0"/>
                </a:lnTo>
                <a:lnTo>
                  <a:pt x="0" y="828675"/>
                </a:lnTo>
                <a:lnTo>
                  <a:pt x="12192000" y="828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97790" algn="l">
              <a:lnSpc>
                <a:spcPts val="5120"/>
              </a:lnSpc>
            </a:pP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SDG Goals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95400"/>
            <a:ext cx="9753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5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925" y="219075"/>
            <a:ext cx="11811000" cy="610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7790" algn="l">
              <a:lnSpc>
                <a:spcPts val="5120"/>
              </a:lnSpc>
            </a:pP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Base Paper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727" y="1310893"/>
            <a:ext cx="6267450" cy="31329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/>
            <a:r>
              <a:rPr sz="2750" b="1" dirty="0">
                <a:solidFill>
                  <a:srgbClr val="6E2E9F"/>
                </a:solidFill>
                <a:latin typeface="Calibri"/>
                <a:cs typeface="Calibri"/>
              </a:rPr>
              <a:t>TITLE:</a:t>
            </a:r>
            <a:r>
              <a:rPr sz="2750" b="1" spc="-45" dirty="0">
                <a:solidFill>
                  <a:srgbClr val="6E2E9F"/>
                </a:solidFill>
                <a:latin typeface="Calibri"/>
                <a:cs typeface="Calibri"/>
              </a:rPr>
              <a:t> </a:t>
            </a:r>
            <a:r>
              <a:rPr lang="en-US" sz="2400" dirty="0"/>
              <a:t>Smart inventory monitoring system for small businesses using web-based analytics</a:t>
            </a:r>
          </a:p>
          <a:p>
            <a:pPr algn="ctr"/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750" b="1" dirty="0">
                <a:solidFill>
                  <a:srgbClr val="1F3862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1F3862"/>
                </a:solidFill>
                <a:latin typeface="Calibri"/>
                <a:cs typeface="Calibri"/>
              </a:rPr>
              <a:t>Authors:</a:t>
            </a:r>
            <a:r>
              <a:rPr sz="2750" b="1" spc="-45" dirty="0">
                <a:solidFill>
                  <a:srgbClr val="1F3862"/>
                </a:solidFill>
                <a:latin typeface="Calibri"/>
                <a:cs typeface="Calibri"/>
              </a:rPr>
              <a:t> </a:t>
            </a:r>
            <a:r>
              <a:rPr lang="en-US" sz="2400" dirty="0"/>
              <a:t>M. Rahman and M. Islam</a:t>
            </a:r>
          </a:p>
          <a:p>
            <a:pPr marL="12700">
              <a:lnSpc>
                <a:spcPct val="100000"/>
              </a:lnSpc>
            </a:pPr>
            <a:endParaRPr lang="en-US" sz="2400" dirty="0"/>
          </a:p>
          <a:p>
            <a:pPr marL="12700">
              <a:lnSpc>
                <a:spcPct val="100000"/>
              </a:lnSpc>
            </a:pPr>
            <a:r>
              <a:rPr sz="2750" b="1" dirty="0">
                <a:solidFill>
                  <a:srgbClr val="001F5F"/>
                </a:solidFill>
                <a:latin typeface="Calibri"/>
                <a:cs typeface="Calibri"/>
              </a:rPr>
              <a:t>Publication:</a:t>
            </a:r>
            <a:r>
              <a:rPr sz="2750" b="1" spc="-20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US" sz="2400" dirty="0"/>
              <a:t>International Journal of   Information Management Data Insights (Volume 4, Issue 2, 2024)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399" y="1345994"/>
            <a:ext cx="5343525" cy="45760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" y="208291"/>
            <a:ext cx="11811000" cy="610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7790" algn="l">
              <a:lnSpc>
                <a:spcPts val="5120"/>
              </a:lnSpc>
            </a:pP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Proposed title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150" y="1160399"/>
            <a:ext cx="10895965" cy="755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/>
            <a:r>
              <a:rPr lang="en-US" sz="2400" dirty="0"/>
              <a:t>Cognitive Perishable Inventory Intelligence Platform for Autonomous Expiry Risk Prediction and Real-Time Decision Support</a:t>
            </a:r>
            <a:endParaRPr lang="en-US" sz="2400" cap="small" dirty="0">
              <a:solidFill>
                <a:schemeClr val="tx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00" y="3436689"/>
            <a:ext cx="11811000" cy="610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5120"/>
              </a:lnSpc>
            </a:pP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Base paper title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4975" y="4366514"/>
            <a:ext cx="11076305" cy="8675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903470" marR="5080" indent="-4890770">
              <a:lnSpc>
                <a:spcPct val="102400"/>
              </a:lnSpc>
              <a:spcBef>
                <a:spcPts val="50"/>
              </a:spcBef>
            </a:pPr>
            <a:r>
              <a:rPr lang="en-US" sz="2800" dirty="0"/>
              <a:t>Smart inventory monitoring system for small businesses using web-based analytics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925" y="161925"/>
            <a:ext cx="11811000" cy="610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5080"/>
              </a:lnSpc>
            </a:pP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Abstract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609" y="1137124"/>
            <a:ext cx="10896600" cy="5301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Management Challenge: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addresses the significant wastage and economic losses in supply chains caused by the sensitivity of food, dairy, and pharmaceuticals to storage conditions and demand.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Risk Engine: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proposes an intelligent "Perishable Inventory Risk Engine" that utilizes time-series analysis and ensemble learning models like </a:t>
            </a:r>
            <a:r>
              <a:rPr kumimoji="0" 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optimize inventory management.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Risk Scoring: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evaluates factors such as shelf life and consumption patterns to generate dynamic risk scores, categorizing items into low, medium, or high-risk levels.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Business Insights: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Beyond prediction, the model provides practical strategies including early expiry alerts, automated discount recommendations, and stock redistribution plans.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Sustainability: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Experimental results show improved accuracy in reducing wastage, making the model adaptable for large-scale deployment in retail, healthcare, and logistics.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6A5B635-BED1-40D4-B96A-DC786A73E8A9}"/>
              </a:ext>
            </a:extLst>
          </p:cNvPr>
          <p:cNvSpPr txBox="1">
            <a:spLocks/>
          </p:cNvSpPr>
          <p:nvPr/>
        </p:nvSpPr>
        <p:spPr>
          <a:xfrm>
            <a:off x="238125" y="171450"/>
            <a:ext cx="11811000" cy="610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4400" b="0" i="0">
                <a:solidFill>
                  <a:srgbClr val="FFFF00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91440">
              <a:lnSpc>
                <a:spcPts val="5065"/>
              </a:lnSpc>
            </a:pP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Problem Statement</a:t>
            </a:r>
            <a:endParaRPr lang="en-IN"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066800"/>
            <a:ext cx="10744200" cy="5301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Sensitivity of Perishable Goods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Products such as food, dairy, and pharmaceuticals are highly sensitive to time, storage conditions, and demand variability, making them difficult to manage in modern supply chains.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Inventory Handling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Current management methods often lead to inefficient handling of inventory, which results in significant wastage and operational inefficiencies.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and Resource Loss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lack of precise tracking and prediction causes substantial economic losses for businesses and contributes to global resource waste.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Timely Decision-Making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Without accurate predictions of product expiry risks, managers struggle to make timely decisions necessary to ensure profitability and sustainability.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Data-Driven Optimization</a:t>
            </a: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There is a critical need for an intelligent system that can integrate multiple influencing factors—like shelf life and consumption patterns—to provide actionable insights and reduce mean error rates in risk prediction.</a:t>
            </a:r>
          </a:p>
        </p:txBody>
      </p:sp>
    </p:spTree>
    <p:extLst>
      <p:ext uri="{BB962C8B-B14F-4D97-AF65-F5344CB8AC3E}">
        <p14:creationId xmlns:p14="http://schemas.microsoft.com/office/powerpoint/2010/main" val="3477333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E9B69D7-715E-4014-895D-C3274C4417FD}"/>
              </a:ext>
            </a:extLst>
          </p:cNvPr>
          <p:cNvSpPr txBox="1">
            <a:spLocks/>
          </p:cNvSpPr>
          <p:nvPr/>
        </p:nvSpPr>
        <p:spPr>
          <a:xfrm>
            <a:off x="238125" y="171450"/>
            <a:ext cx="11811000" cy="610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4400" b="0" i="0">
                <a:solidFill>
                  <a:srgbClr val="FFFF00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91440">
              <a:lnSpc>
                <a:spcPts val="5065"/>
              </a:lnSpc>
              <a:spcBef>
                <a:spcPts val="610"/>
              </a:spcBef>
            </a:pPr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84" y="1143000"/>
            <a:ext cx="11973282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32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34" y="3233715"/>
            <a:ext cx="11811000" cy="610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5065"/>
              </a:lnSpc>
            </a:pP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cope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 of the </a:t>
            </a:r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Proposed Work</a:t>
            </a:r>
            <a:endParaRPr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504" y="281716"/>
            <a:ext cx="11811000" cy="610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5090"/>
              </a:lnSpc>
            </a:pPr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Proposed </a:t>
            </a: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Objective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s</a:t>
            </a:r>
            <a:endParaRPr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  <a:ea typeface="+mj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4816" y="989511"/>
            <a:ext cx="1025270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Risk Modeling and Data Integration: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develop a machine learning-based engine using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analysis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processes dynamic user inputs—such as shelf life, storage conditions, and demand patterns—to accurately predict expiry risks and categorize inventory into low, medium, and high-risk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Monitoring and Decision Support: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an interactive, web-based dashboard that visualizes risk levels and inventory performance over time, providing a unified platform for real-time alerts, stock redistribution recommendations, and data-driven insights to minimize wastage.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64816" y="4076078"/>
            <a:ext cx="1127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Prediction and Risk Categorization: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focuses on leveraging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analysis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evaluate factors such as shelf life and storage conditions, ultimately generating dynamic risk scores to categorize items into low, medium, or high-risk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Decision Support and Digitalization: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scope includes developing a unified web-based platform with interactive dashboards that provide real-time expiry alerts, discount recommendations, and stock redistribution strategies to minimize wastage and improve operational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736" y="353195"/>
            <a:ext cx="11570464" cy="700833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4455" rIns="0" bIns="0" rtlCol="0">
            <a:spAutoFit/>
          </a:bodyPr>
          <a:lstStyle/>
          <a:p>
            <a:pPr marL="93345">
              <a:spcBef>
                <a:spcPts val="665"/>
              </a:spcBef>
            </a:pP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Proposed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1345484"/>
            <a:ext cx="11277600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Risk Prediction: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utilizes advanced machine learning, specifically </a:t>
            </a:r>
            <a:r>
              <a:rPr kumimoji="0" 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analysis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to evaluate influencing factors like remaining shelf life and storage conditions.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Risk Categorization: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generates a real-time risk score for every item, automatically classifying inventory into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low, medium, or high-risk levels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prioritize management efforts.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Decision Support: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Beyond simple monitoring, the platform provides proactive insights, including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expiry alerts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 recommendations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redistribution strategies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minimize loss.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Web-Based Architecture: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solution integrates these predictive modules into a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web platform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adaptable for diverse sectors such as retail, healthcare, and logistics.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975" y="361950"/>
            <a:ext cx="11477625" cy="70083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665"/>
              </a:spcBef>
            </a:pPr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Proposed 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Architecture Diagram</a:t>
            </a:r>
            <a:endParaRPr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975" y="1340694"/>
            <a:ext cx="11477625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11658600" cy="1315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382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Modules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 1</a:t>
            </a: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  </a:t>
            </a:r>
            <a:r>
              <a:rPr lang="en-IN" sz="4000" dirty="0">
                <a:solidFill>
                  <a:schemeClr val="bg1"/>
                </a:solidFill>
              </a:rPr>
              <a:t>Data Acquisition and Inventory Monitoring</a:t>
            </a:r>
            <a:endParaRPr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9490" y="2057400"/>
            <a:ext cx="9829800" cy="2239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inventory data such as product type, quantity, and expiry date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Monitors storage conditions including temperature and humidity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real-time stock movement and consumption patterns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Preprocesses and organizes data for machine learning analysis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11658600" cy="700192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3820" rIns="0" bIns="0" rtlCol="0">
            <a:spAutoFit/>
          </a:bodyPr>
          <a:lstStyle/>
          <a:p>
            <a:pPr marL="93345">
              <a:spcBef>
                <a:spcPts val="660"/>
              </a:spcBef>
            </a:pP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Modules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 2</a:t>
            </a: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IN" sz="3600" dirty="0">
                <a:solidFill>
                  <a:schemeClr val="bg1"/>
                </a:solidFill>
              </a:rPr>
              <a:t>Expiry Risk Prediction Engine</a:t>
            </a:r>
            <a:endParaRPr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752600"/>
            <a:ext cx="98758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machine learning models such as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prediction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Analyzes shelf life, demand variability, and storage factors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dynamic risk scores for each inventory item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Classifies products into Low, Medium, and High-risk categories </a:t>
            </a:r>
          </a:p>
        </p:txBody>
      </p:sp>
    </p:spTree>
    <p:extLst>
      <p:ext uri="{BB962C8B-B14F-4D97-AF65-F5344CB8AC3E}">
        <p14:creationId xmlns:p14="http://schemas.microsoft.com/office/powerpoint/2010/main" val="28149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11658600" cy="13157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382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Modules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 3 </a:t>
            </a:r>
            <a:r>
              <a:rPr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Decision Support and Optimization System</a:t>
            </a:r>
            <a:endParaRPr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1752600"/>
            <a:ext cx="101765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early expiry alert notifications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Suggests discount and promotional strategies for risky items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Recommends stock redistribution to minimize wastage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data-driven inventory management and operational efficiency </a:t>
            </a:r>
          </a:p>
        </p:txBody>
      </p:sp>
    </p:spTree>
    <p:extLst>
      <p:ext uri="{BB962C8B-B14F-4D97-AF65-F5344CB8AC3E}">
        <p14:creationId xmlns:p14="http://schemas.microsoft.com/office/powerpoint/2010/main" val="1589899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975" y="361950"/>
            <a:ext cx="11172825" cy="700833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445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665"/>
              </a:spcBef>
            </a:pP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Experimental Setup</a:t>
            </a:r>
            <a:endParaRPr sz="395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0975" y="1412179"/>
            <a:ext cx="11602392" cy="525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Programming Language:</a:t>
            </a:r>
            <a:br>
              <a:rPr lang="en-IN" sz="2400" dirty="0"/>
            </a:br>
            <a:r>
              <a:rPr lang="en-IN" sz="2400" dirty="0"/>
              <a:t>Python 3.x for machine learning and JavaScript for MERN stack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Machine Learning Libraries:</a:t>
            </a:r>
            <a:br>
              <a:rPr lang="en-IN" sz="2400" dirty="0"/>
            </a:br>
            <a:r>
              <a:rPr lang="en-IN" sz="2400" dirty="0" err="1"/>
              <a:t>XGBoost</a:t>
            </a:r>
            <a:r>
              <a:rPr lang="en-IN" sz="2400" dirty="0"/>
              <a:t> for risk prediction.</a:t>
            </a:r>
            <a:br>
              <a:rPr lang="en-IN" sz="2400" dirty="0"/>
            </a:br>
            <a:r>
              <a:rPr lang="en-IN" sz="2400" dirty="0"/>
              <a:t>Pandas and NumPy for data processing.</a:t>
            </a:r>
            <a:br>
              <a:rPr lang="en-IN" sz="2400" dirty="0"/>
            </a:br>
            <a:r>
              <a:rPr lang="en-IN" sz="2400" dirty="0"/>
              <a:t>Scikit-learn for train-test split and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Web Framework &amp; Dashboarding:</a:t>
            </a:r>
            <a:br>
              <a:rPr lang="en-IN" sz="2400" dirty="0"/>
            </a:br>
            <a:r>
              <a:rPr lang="en-IN" sz="2400" dirty="0"/>
              <a:t>MERN Stack (MongoDB, Express.js, React.js, Node.js) for the web dashboard.</a:t>
            </a:r>
            <a:br>
              <a:rPr lang="en-IN" sz="2400" dirty="0"/>
            </a:br>
            <a:r>
              <a:rPr lang="en-IN" sz="2400" dirty="0"/>
              <a:t>Chart.js or Recharts for charts and visualizations.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Database Management:</a:t>
            </a:r>
            <a:br>
              <a:rPr lang="en-IN" sz="2400" dirty="0"/>
            </a:br>
            <a:r>
              <a:rPr lang="en-IN" sz="2400" dirty="0"/>
              <a:t>MongoDB for storing inventory and prediction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Development Environment:</a:t>
            </a:r>
            <a:br>
              <a:rPr lang="en-IN" sz="2400" dirty="0"/>
            </a:br>
            <a:r>
              <a:rPr lang="en-IN" sz="2400" dirty="0"/>
              <a:t>Visual Studio Code and </a:t>
            </a:r>
            <a:r>
              <a:rPr lang="en-IN" sz="2400" dirty="0" err="1"/>
              <a:t>Jupyter</a:t>
            </a:r>
            <a:r>
              <a:rPr lang="en-IN" sz="2400" dirty="0"/>
              <a:t> Notebook.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11658600" cy="700192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3820" rIns="0" bIns="0" rtlCol="0">
            <a:spAutoFit/>
          </a:bodyPr>
          <a:lstStyle/>
          <a:p>
            <a:pPr marL="0" marR="0" lvl="1" algn="just" fontAlgn="base">
              <a:spcBef>
                <a:spcPts val="600"/>
              </a:spcBef>
              <a:spcAft>
                <a:spcPts val="300"/>
              </a:spcAft>
              <a:buClr>
                <a:schemeClr val="accent2"/>
              </a:buClr>
              <a:buSzPts val="1000"/>
              <a:tabLst>
                <a:tab pos="228600" algn="l"/>
              </a:tabLst>
            </a:pPr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Dataset Description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0600"/>
            <a:ext cx="116586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01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11658600" cy="700192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3820" rIns="0" bIns="0" rtlCol="0">
            <a:spAutoFit/>
          </a:bodyPr>
          <a:lstStyle/>
          <a:p>
            <a:pPr marL="0" marR="0" lvl="1" algn="just" fontAlgn="base">
              <a:spcBef>
                <a:spcPts val="600"/>
              </a:spcBef>
              <a:spcAft>
                <a:spcPts val="300"/>
              </a:spcAft>
              <a:buClr>
                <a:schemeClr val="accent2"/>
              </a:buClr>
              <a:buSzPts val="1000"/>
              <a:tabLst>
                <a:tab pos="228600" algn="l"/>
              </a:tabLst>
            </a:pPr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Result Analysis</a:t>
            </a:r>
            <a:endParaRPr lang="en-US"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  <a:ea typeface="+mj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070107"/>
            <a:ext cx="11591291" cy="5027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Reduction in Wastage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system identifies high-risk items with high precision, allowing for timely interventions that significantly reduce inventory spoilage and physical wastage compared to manual tracking systems.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Prediction Accuracy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By utilizing ensemble learning through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analysis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model achieves lower mean error rates in predicting expiry dates and risk scores, outperforming traditional linear estimation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Inventory Performance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implementation of a dynamic risk scoring mechanism (Low, Medium, High) provides quantitative insights that allow businesses to identify patterns of inefficiency and improve overall operational control.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Decision Support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integration of the alert and recommendation modules—such as automated discount strategies and stock redistribution—enables data-driven decision-making that directly enhances sustainability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554692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A6D53D2-59FA-4908-A6FE-BE6BC8456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11658600" cy="700192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3820" rIns="0" bIns="0" rtlCol="0">
            <a:spAutoFit/>
          </a:bodyPr>
          <a:lstStyle/>
          <a:p>
            <a:pPr marL="0" marR="0" lvl="1" algn="just" fontAlgn="base">
              <a:spcBef>
                <a:spcPts val="600"/>
              </a:spcBef>
              <a:spcAft>
                <a:spcPts val="300"/>
              </a:spcAft>
              <a:buClr>
                <a:schemeClr val="accent2"/>
              </a:buClr>
              <a:buSzPts val="1000"/>
              <a:tabLst>
                <a:tab pos="228600" algn="l"/>
              </a:tabLst>
            </a:pPr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</a:rPr>
              <a:t>Result Analysis</a:t>
            </a:r>
            <a:endParaRPr lang="en-US"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  <a:ea typeface="+mj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0600"/>
            <a:ext cx="11658600" cy="560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07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632293DA-1FCC-49AD-BAD2-293B2E23F3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11658600" cy="700192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3820" rIns="0" bIns="0" rtlCol="0">
            <a:spAutoFit/>
          </a:bodyPr>
          <a:lstStyle/>
          <a:p>
            <a:r>
              <a:rPr lang="en-US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Conclusion and future work</a:t>
            </a:r>
            <a:endParaRPr lang="en-IN"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4816" y="1524000"/>
            <a:ext cx="11760200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Operational Efficiency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Perishable Inventory Risk Engine successfully demonstrates that integrating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analysis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significantly reduces wastage by providing more accurate expiry predictions than traditional manual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 Making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system transforms raw inventory data into actionable insights, such as dynamic risk scoring and automated alerts, enabling SMEs to maintain profitability while ensuring resource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Sustainability Alignment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By effectively identifying and managing high-risk items, the project directly supports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Goals 9 and 12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fostering industrial innovation and promoting responsible, waste-conscious consumption patterns.</a:t>
            </a:r>
          </a:p>
        </p:txBody>
      </p:sp>
    </p:spTree>
    <p:extLst>
      <p:ext uri="{BB962C8B-B14F-4D97-AF65-F5344CB8AC3E}">
        <p14:creationId xmlns:p14="http://schemas.microsoft.com/office/powerpoint/2010/main" val="2781587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Review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50" y="266700"/>
            <a:ext cx="11506200" cy="730969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1143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00"/>
              </a:spcBef>
            </a:pPr>
            <a:r>
              <a:rPr lang="en-IN" sz="4000" b="1" cap="small" dirty="0">
                <a:solidFill>
                  <a:schemeClr val="bg1"/>
                </a:solidFill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References</a:t>
            </a:r>
            <a:endParaRPr sz="4000" b="1" cap="small" dirty="0">
              <a:solidFill>
                <a:schemeClr val="bg1"/>
              </a:solidFill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050" y="1563304"/>
            <a:ext cx="11269028" cy="4288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marR="13970" indent="-51498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527050" algn="l"/>
              </a:tabLst>
            </a:pPr>
            <a:r>
              <a:rPr lang="en-US" dirty="0"/>
              <a:t>[1] World Bank, Digital Transformation of Small and Medium Enterprises in Developing Economies, World Bank Group Report, 2022. </a:t>
            </a:r>
          </a:p>
          <a:p>
            <a:pPr marL="527050" marR="13970" indent="-51498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527050" algn="l"/>
              </a:tabLst>
            </a:pPr>
            <a:r>
              <a:rPr lang="en-US" dirty="0"/>
              <a:t>[2] FAO, Reducing Food Loss and Waste in Retail Supply Chains Through Digital Monitoring, Food and Agriculture Organization, 2022. </a:t>
            </a:r>
          </a:p>
          <a:p>
            <a:pPr marL="527050" marR="13970" indent="-51498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527050" algn="l"/>
              </a:tabLst>
            </a:pPr>
            <a:r>
              <a:rPr lang="en-US" dirty="0"/>
              <a:t>[3] OECD, SME and Entrepreneurship Outlook 2023: Digitalization and Productivity in Small Businesses, OECD Publishing, 2023. </a:t>
            </a:r>
          </a:p>
          <a:p>
            <a:pPr marL="527050" marR="13970" indent="-51498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527050" algn="l"/>
              </a:tabLst>
            </a:pPr>
            <a:r>
              <a:rPr lang="en-US" dirty="0"/>
              <a:t>[4] Gupta, R. and Kumar, A., “Data-driven inventory management in small retail businesses,” International Journal of Retail &amp; Distribution Management, vol. 52, no. 3, pp. 310–326, 2024. </a:t>
            </a:r>
          </a:p>
          <a:p>
            <a:pPr marL="527050" marR="13970" indent="-51498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527050" algn="l"/>
              </a:tabLst>
            </a:pPr>
            <a:r>
              <a:rPr lang="en-US" dirty="0"/>
              <a:t>[5] Rahman, M. and Islam, M., “Smart inventory monitoring system for small businesses using web-based analytics,” International Journal of Information Management Data Insights, vol. 4, no. 2, 2024.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2487931"/>
            <a:ext cx="54864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b="1" dirty="0">
                <a:solidFill>
                  <a:srgbClr val="002060"/>
                </a:solidFill>
              </a:rPr>
              <a:t>THANK</a:t>
            </a:r>
            <a:r>
              <a:rPr sz="6000" b="1" spc="-40" dirty="0">
                <a:solidFill>
                  <a:srgbClr val="002060"/>
                </a:solidFill>
              </a:rPr>
              <a:t> </a:t>
            </a:r>
            <a:r>
              <a:rPr sz="6000" b="1" spc="-25" dirty="0">
                <a:solidFill>
                  <a:srgbClr val="002060"/>
                </a:solidFill>
              </a:rPr>
              <a:t>YOU</a:t>
            </a:r>
            <a:r>
              <a:rPr lang="en-IN" sz="6000" b="1" spc="-25" dirty="0">
                <a:solidFill>
                  <a:srgbClr val="002060"/>
                </a:solidFill>
              </a:rPr>
              <a:t>!</a:t>
            </a:r>
            <a:endParaRPr sz="6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6195</TotalTime>
  <Words>1477</Words>
  <Application>Microsoft Office PowerPoint</Application>
  <PresentationFormat>Widescreen</PresentationFormat>
  <Paragraphs>131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SDG Goals</vt:lpstr>
      <vt:lpstr>Base Paper</vt:lpstr>
      <vt:lpstr>Proposed title</vt:lpstr>
      <vt:lpstr>Abstract</vt:lpstr>
      <vt:lpstr>PowerPoint Presentation</vt:lpstr>
      <vt:lpstr>PowerPoint Presentation</vt:lpstr>
      <vt:lpstr>Scope of the Proposed Work</vt:lpstr>
      <vt:lpstr>Proposed system</vt:lpstr>
      <vt:lpstr>Proposed Architecture Diagram</vt:lpstr>
      <vt:lpstr>Modules 1:  Data Acquisition and Inventory Monitoring</vt:lpstr>
      <vt:lpstr>Modules 2: Expiry Risk Prediction Engine</vt:lpstr>
      <vt:lpstr>Modules 3 : Decision Support and Optimization System</vt:lpstr>
      <vt:lpstr>Experimental Setup</vt:lpstr>
      <vt:lpstr>Dataset Description</vt:lpstr>
      <vt:lpstr>Result Analysis</vt:lpstr>
      <vt:lpstr>Result Analysis</vt:lpstr>
      <vt:lpstr>Conclusion and future work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Sahana</dc:creator>
  <cp:lastModifiedBy>RESHMA BANU</cp:lastModifiedBy>
  <cp:revision>42</cp:revision>
  <cp:lastPrinted>2026-05-10T14:55:06Z</cp:lastPrinted>
  <dcterms:created xsi:type="dcterms:W3CDTF">2025-10-10T02:22:21Z</dcterms:created>
  <dcterms:modified xsi:type="dcterms:W3CDTF">2026-05-13T06:45:00Z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